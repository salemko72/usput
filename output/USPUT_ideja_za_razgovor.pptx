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4" d="100"/>
          <a:sy n="194" d="100"/>
        </p:scale>
        <p:origin x="293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Odgovori</c:v>
          </c:tx>
          <c:spPr>
            <a:solidFill>
              <a:srgbClr val="174B3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solidFill>
                      <a:srgbClr val="174B3B"/>
                    </a:solidFill>
                    <a:latin typeface="Arial"/>
                    <a:ea typeface="Arial"/>
                    <a:cs typeface="Arial"/>
                  </a:defRPr>
                </a:pPr>
                <a:endParaRPr lang="sr-Latn-R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Sigurno</c:v>
                </c:pt>
                <c:pt idx="1">
                  <c:v>Vjerovatno</c:v>
                </c:pt>
                <c:pt idx="2">
                  <c:v>Nesigurno</c:v>
                </c:pt>
                <c:pt idx="3">
                  <c:v>Vjerovatno ne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</c:v>
                </c:pt>
                <c:pt idx="1">
                  <c:v>13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4CC-4FCD-BF7C-9BB3CAB229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sr-Latn-R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endParaRPr lang="sr-Latn-R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Koncept aplikacije, još nije pokrenuta usluga. Ilustracije i prikazi aplikacije generisani su za ovu prezentaciju. Vizuelna inspiracija: javne stranice zajedničke mobilnosti Mobicoop, https://www.mobicoop.fr/application/ i https://covoit.mobicoop.fr/. Ne preuzimamo njihov identitet niti tvrdimo partnerstvo.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Osnovni koncept iz razgovora s osnivačem i elaborata v0.4. Vozač već ima svoju rutu. Susret i izlazak moraju biti praktični i sigurni. Ne tvrdimo izmjerene uštede vremena, gužve ili emisija.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Generisan vizuelni koncept, nije funkcionalna aplikacija. Konačne kontrole zavise od uloge vozača ili putnika. Planiramo kratke statuse umjesto otvorenog razgovora. Kvačica označava potvrđen telefon, ne provjeren identitet ili garanciju sigurnosti.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Cilj je automatizacija, uz ručnu potvrdu prije vožnje kad automatika nije pouzdana. Lokacija samo tokom dogovorenog perioda. GPS blizina sama ne dokazuje susret ili ulazak u auto. Ako putnik nije spreman, vozač može nastaviti. Nema garancije dostupne vožnje, putnik mora imati rezervnu mogućnost.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Prijedlog za razradu, nije konačna odluka o punoj provjeri identiteta. Prva verzija samo za punoljetne. Treba omogućiti prijavu, blokiranje i pomoć, uz osobu koja rješava prijave. Ne prikazivati telefon, email i kućnu adresu javno. Dokumenti, pravila čuvanja podataka i dodatne provjere ostaju otvorena pitanja.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Izvor: USPUT anketa, Google Forms, pregled 1.10.2026. Ukupno 27 odgovora. https://docs.google.com/forms/d/1vy_aDiCNlwIOSjTDhG9p7lwLZUB4QNFTIDitQIPPLL0/edit#responses Završno pitanje ima 26 odgovora, jer jedan ispitanik ne putuje na posao. 9+13=22, odnosno 84,6%. Svih 9 vozača bira Rado bih. Postoji i jedan izbor Ne želim saputnike u drugom pitanju, pa odgovori nisu potpuno dosljedni. Namjera u anketi nije isto što i ponašanje.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Izvor: USPUT anketa, Google Forms, pregled 1.10.2026. Ukupno 27 odgovora. https://docs.google.com/forms/d/1vy_aDiCNlwIOSjTDhG9p7lwLZUB4QNFTIDitQIPPLL0/edit#responses Pitanje o izboru saputnika dozvoljava najviše dva odgovora. Šest vozača odabralo poznanstvo. Pitanje o nagradama: 6 ne treba nagradu, 3 očekuju novac ili podjelu troškova, ostale opcije 0. Putnička pitanja su zbog grananja odgovorili i vozači, pa ih ne predstavljamo kao zaseban uzorak putnika.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Osnova ostaje besplatna vožnja. Virtuelne nagrade su ideja, ne potvrđen motiv: niko od 9 vozača ih nije izabrao u ponuđenom pitanju. Primjer za buduću raspravu: vozač predlaže ukupno 3 KM doprinosa, koji se dijeli među putnicima. To nije odluka za prvu verziju niti dokaz da nema dobiti. Pravni status, osiguranje i način podjele stvarnih troškova zahtijevaju lokalnu stručnu provjeru prije uvođenja.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Mogući poslovni modeli iz razgovora, bez potvrđenih partnera, budžeta, cijena ili prognoze prihoda. Nema odluke o naplati osnovne vožnje ili uzimanju provizije.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Prijedlog male početne probe. Prvo pokazati klikabilne ekrane, zatim isprobati stvarno povezivanje u jednostavnoj funkcionalnoj verziji. Testere tražiti među kolegama i poznanicima na jednoj ruti. Učesnici nisu još regrutovani. Uspjeh procjenjujemo iz stvarnog ponavljanja vožnji, a ne samo broja registracija.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Otvoreni izazovi, bez tvrdnje da su riješeni. Automatski polazak i blizina zahtijevaju testiranje u stvarnim uslovima. Odgovornost, osiguranje i eventualno dijeljenje troškova zahtijevaju stručnu provjeru. Najveći operativni izazovi uključuju dovoljno ljudi na istoj ruti, povjerenje i pouzdanost dogovora.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5C1C4EF-4A74-4B73-8349-FED1B04D6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5D590E2-1B94-4A1A-871E-53B230BE70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5DB59DD-A888-4A51-94AE-47C36874C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7023CAB-921B-4AB3-B67C-B6E340826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250B418-7730-4963-900A-70B75D01D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2F64928-C311-47A8-9991-1CF38D39B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FABF0CD-ABA3-4BB8-8322-CBF6E2D60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A824BC5-D75D-4187-BEA9-D996111513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705416B-45A1-4276-8594-20EE220B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F8FDD-4E35-4EBE-9085-E96CB64A3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296ADD3-7B06-47F8-83AD-2CC571C6C91F}"/>
              </a:ext>
            </a:extLst>
          </p:cNvPr>
          <p:cNvSpPr>
            <a:spLocks noGrp="1"/>
          </p:cNvSpPr>
          <p:nvPr/>
        </p:nvSpPr>
        <p:spPr>
          <a:xfrm>
            <a:off x="619125" y="781050"/>
            <a:ext cx="4381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4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6450" b="1" dirty="0">
                <a:solidFill>
                  <a:srgbClr val="174B3B"/>
                </a:solidFill>
                <a:latin typeface="Arial Black" panose="020B0A04020102020204" pitchFamily="34" charset="0"/>
                <a:ea typeface="Arial"/>
                <a:cs typeface="Arial"/>
              </a:rPr>
              <a:t>USPUT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644246-1435-4A8B-928C-B49C0F1667CF}"/>
              </a:ext>
            </a:extLst>
          </p:cNvPr>
          <p:cNvSpPr>
            <a:spLocks noGrp="1"/>
          </p:cNvSpPr>
          <p:nvPr/>
        </p:nvSpPr>
        <p:spPr>
          <a:xfrm>
            <a:off x="657225" y="1662112"/>
            <a:ext cx="414337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3225" b="1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Zajedno</a:t>
            </a:r>
            <a:r>
              <a:rPr sz="3225" b="1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do </a:t>
            </a:r>
            <a:r>
              <a:rPr sz="3225" b="1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posla</a:t>
            </a:r>
            <a:endParaRPr sz="3225" b="1" dirty="0">
              <a:solidFill>
                <a:srgbClr val="174B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A126AD-D935-42A1-90B8-98E61567DBCA}"/>
              </a:ext>
            </a:extLst>
          </p:cNvPr>
          <p:cNvSpPr>
            <a:spLocks noGrp="1"/>
          </p:cNvSpPr>
          <p:nvPr/>
        </p:nvSpPr>
        <p:spPr>
          <a:xfrm>
            <a:off x="657225" y="3381375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175" b="0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Poveži</a:t>
            </a:r>
            <a:r>
              <a:rPr sz="217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se s </a:t>
            </a:r>
            <a:r>
              <a:rPr sz="2175" b="0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nekim</a:t>
            </a:r>
            <a:r>
              <a:rPr sz="2175" b="0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ko</a:t>
            </a:r>
            <a:r>
              <a:rPr sz="2175" b="0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već</a:t>
            </a:r>
          </a:p>
          <a:p>
            <a:pPr>
              <a:defRPr sz="217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ide u </a:t>
            </a:r>
            <a:r>
              <a:rPr sz="2175" b="0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tvom</a:t>
            </a:r>
            <a:r>
              <a:rPr sz="2175" b="0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smjeru</a:t>
            </a:r>
            <a:r>
              <a:rPr sz="2175" b="0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ECBE66-C5A7-447D-A355-D4351CB6F56C}"/>
              </a:ext>
            </a:extLst>
          </p:cNvPr>
          <p:cNvSpPr>
            <a:spLocks noGrp="1"/>
          </p:cNvSpPr>
          <p:nvPr/>
        </p:nvSpPr>
        <p:spPr>
          <a:xfrm>
            <a:off x="657225" y="5534025"/>
            <a:ext cx="3619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Ideja za razgovor</a:t>
            </a:r>
          </a:p>
          <a:p>
            <a:pPr>
              <a:defRPr sz="15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Oktobar 2026.</a:t>
            </a:r>
          </a:p>
        </p:txBody>
      </p:sp>
    </p:spTree>
    <p:extLst>
      <p:ext uri="{BB962C8B-B14F-4D97-AF65-F5344CB8AC3E}">
        <p14:creationId xmlns:p14="http://schemas.microsoft.com/office/powerpoint/2010/main" val="67921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947BCC-ED51-44D9-8EDD-316DE607D9F8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Jedan put do posla, jedno slobodno mjesto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5E4E5F-569C-446D-ACE4-4AF63FB35604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F21FDA-78AC-4046-B263-ACAEB445AA2C}"/>
              </a:ext>
            </a:extLst>
          </p:cNvPr>
          <p:cNvSpPr>
            <a:spLocks noGrp="1"/>
          </p:cNvSpPr>
          <p:nvPr/>
        </p:nvSpPr>
        <p:spPr>
          <a:xfrm>
            <a:off x="619125" y="1924050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Vozač već ide na posao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A8898F-E0ED-44D0-8A2D-2B69FBFC5001}"/>
              </a:ext>
            </a:extLst>
          </p:cNvPr>
          <p:cNvSpPr>
            <a:spLocks noGrp="1"/>
          </p:cNvSpPr>
          <p:nvPr/>
        </p:nvSpPr>
        <p:spPr>
          <a:xfrm>
            <a:off x="619125" y="2647950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Ima slobodno mjesto u autu.</a:t>
            </a:r>
          </a:p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Može povezati osobu koja mu je usput.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1C2F1D-0859-4292-B3C2-737E0C6F0AF4}"/>
              </a:ext>
            </a:extLst>
          </p:cNvPr>
          <p:cNvSpPr>
            <a:spLocks noGrp="1"/>
          </p:cNvSpPr>
          <p:nvPr/>
        </p:nvSpPr>
        <p:spPr>
          <a:xfrm>
            <a:off x="6505575" y="1924050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Putnik ide u istom smjeru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D64E2-63D4-42DE-8FAE-7ACD910A124D}"/>
              </a:ext>
            </a:extLst>
          </p:cNvPr>
          <p:cNvSpPr>
            <a:spLocks noGrp="1"/>
          </p:cNvSpPr>
          <p:nvPr/>
        </p:nvSpPr>
        <p:spPr>
          <a:xfrm>
            <a:off x="6505575" y="2647950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Može doći do mjesta susreta</a:t>
            </a:r>
          </a:p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i izaći blizu svog odredišta.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14C7FC-55EB-494B-B32B-982DB365A75C}"/>
              </a:ext>
            </a:extLst>
          </p:cNvPr>
          <p:cNvSpPr>
            <a:spLocks noGrp="1"/>
          </p:cNvSpPr>
          <p:nvPr/>
        </p:nvSpPr>
        <p:spPr>
          <a:xfrm>
            <a:off x="619125" y="504825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USPUT bi im pomogao da se pronađu i dogovore.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907" y="1769679"/>
            <a:ext cx="4904718" cy="189974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1" name="Rectangle 10"/>
          <p:cNvSpPr/>
          <p:nvPr/>
        </p:nvSpPr>
        <p:spPr>
          <a:xfrm>
            <a:off x="6048704" y="1766395"/>
            <a:ext cx="4904718" cy="189974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2" name="Left-Right Arrow 11"/>
          <p:cNvSpPr/>
          <p:nvPr/>
        </p:nvSpPr>
        <p:spPr>
          <a:xfrm>
            <a:off x="5151548" y="2429532"/>
            <a:ext cx="1127234" cy="536027"/>
          </a:xfrm>
          <a:prstGeom prst="left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473611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E031C6A-BFE0-48FC-9FD9-C651EE3CAAEC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Šta ljudi dobijaju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0B4D1-6722-4911-BB47-6E0F9D3F648F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53798-19BD-47BC-BC38-48EFAE6DA15F}"/>
              </a:ext>
            </a:extLst>
          </p:cNvPr>
          <p:cNvSpPr>
            <a:spLocks noGrp="1"/>
          </p:cNvSpPr>
          <p:nvPr/>
        </p:nvSpPr>
        <p:spPr>
          <a:xfrm>
            <a:off x="619125" y="1876425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Vozač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F9C7CB-0449-43A9-B15C-5B0F8741FAE0}"/>
              </a:ext>
            </a:extLst>
          </p:cNvPr>
          <p:cNvSpPr>
            <a:spLocks noGrp="1"/>
          </p:cNvSpPr>
          <p:nvPr/>
        </p:nvSpPr>
        <p:spPr>
          <a:xfrm>
            <a:off x="619125" y="2600325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Može nekome pomoći.</a:t>
            </a:r>
          </a:p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Može imati društvo na putu.</a:t>
            </a:r>
          </a:p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Sam bira kada i koga vozi.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CD9FA8-EE83-4F9C-8193-94EA8769A826}"/>
              </a:ext>
            </a:extLst>
          </p:cNvPr>
          <p:cNvSpPr>
            <a:spLocks noGrp="1"/>
          </p:cNvSpPr>
          <p:nvPr/>
        </p:nvSpPr>
        <p:spPr>
          <a:xfrm>
            <a:off x="6505575" y="1876425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Putnik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D2225E-67C2-4A80-8A6F-05395E145AB9}"/>
              </a:ext>
            </a:extLst>
          </p:cNvPr>
          <p:cNvSpPr>
            <a:spLocks noGrp="1"/>
          </p:cNvSpPr>
          <p:nvPr/>
        </p:nvSpPr>
        <p:spPr>
          <a:xfrm>
            <a:off x="6505575" y="2600325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Dobija</a:t>
            </a:r>
            <a:r>
              <a:rPr sz="2025" b="0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dodatnu</a:t>
            </a:r>
            <a:r>
              <a:rPr sz="2025" b="0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mogućnost</a:t>
            </a:r>
            <a:r>
              <a:rPr sz="2025" b="0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25" b="0" dirty="0" smtClean="0">
                <a:solidFill>
                  <a:srgbClr val="174B3B"/>
                </a:solidFill>
                <a:latin typeface="Arial"/>
                <a:ea typeface="Arial"/>
                <a:cs typeface="Arial"/>
              </a:rPr>
              <a:t/>
            </a:r>
            <a:br>
              <a:rPr lang="en-US" sz="2025" b="0" dirty="0" smtClean="0">
                <a:solidFill>
                  <a:srgbClr val="174B3B"/>
                </a:solidFill>
                <a:latin typeface="Arial"/>
                <a:ea typeface="Arial"/>
                <a:cs typeface="Arial"/>
              </a:rPr>
            </a:br>
            <a:r>
              <a:rPr sz="2025" b="0" dirty="0" err="1" smtClean="0">
                <a:solidFill>
                  <a:srgbClr val="174B3B"/>
                </a:solidFill>
                <a:latin typeface="Arial"/>
                <a:ea typeface="Arial"/>
                <a:cs typeface="Arial"/>
              </a:rPr>
              <a:t>dolaska</a:t>
            </a:r>
            <a:r>
              <a:rPr sz="2025" b="0" dirty="0" smtClean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na</a:t>
            </a:r>
            <a:r>
              <a:rPr sz="2025" b="0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posao</a:t>
            </a:r>
            <a:r>
              <a:rPr sz="2025" b="0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Osnovna</a:t>
            </a:r>
            <a:r>
              <a:rPr sz="2025" b="0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ideja</a:t>
            </a:r>
            <a:r>
              <a:rPr sz="2025" b="0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je </a:t>
            </a:r>
            <a:r>
              <a:rPr sz="2025" b="0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besplatna</a:t>
            </a:r>
            <a:r>
              <a:rPr sz="2025" b="0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vožnja</a:t>
            </a:r>
            <a:r>
              <a:rPr sz="2025" b="0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33D13D-21E9-401F-9D44-7A06C0E90690}"/>
              </a:ext>
            </a:extLst>
          </p:cNvPr>
          <p:cNvSpPr>
            <a:spLocks noGrp="1"/>
          </p:cNvSpPr>
          <p:nvPr/>
        </p:nvSpPr>
        <p:spPr>
          <a:xfrm>
            <a:off x="619125" y="5076825"/>
            <a:ext cx="10668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Željeni rezultat: lakši put i ljudi s kojima bi opet putovao.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610" y="1722382"/>
            <a:ext cx="4233042" cy="213228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0" name="Rectangle 9"/>
          <p:cNvSpPr/>
          <p:nvPr/>
        </p:nvSpPr>
        <p:spPr>
          <a:xfrm>
            <a:off x="6081548" y="1693478"/>
            <a:ext cx="4974021" cy="213228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1" name="Left-Right Arrow 10"/>
          <p:cNvSpPr/>
          <p:nvPr/>
        </p:nvSpPr>
        <p:spPr>
          <a:xfrm>
            <a:off x="4816366" y="2495550"/>
            <a:ext cx="1127234" cy="536027"/>
          </a:xfrm>
          <a:prstGeom prst="left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742568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C70E394-87B2-49B4-8EA4-A80394D45747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Kako bi izgledalo jedno jutro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C6D29D-64E2-4EB4-BFB2-682FB522AD4A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A081C7-7825-4167-8E6A-B988992C7BA6}"/>
              </a:ext>
            </a:extLst>
          </p:cNvPr>
          <p:cNvSpPr>
            <a:spLocks noGrp="1"/>
          </p:cNvSpPr>
          <p:nvPr/>
        </p:nvSpPr>
        <p:spPr>
          <a:xfrm>
            <a:off x="619125" y="1819275"/>
            <a:ext cx="2286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9433FE-D5AC-4D27-8981-96B9B97BD0BE}"/>
              </a:ext>
            </a:extLst>
          </p:cNvPr>
          <p:cNvSpPr>
            <a:spLocks noGrp="1"/>
          </p:cNvSpPr>
          <p:nvPr/>
        </p:nvSpPr>
        <p:spPr>
          <a:xfrm>
            <a:off x="619125" y="3048000"/>
            <a:ext cx="25431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Uneseš 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5F123C-0E21-4E5D-B3BD-38E0E1BE110C}"/>
              </a:ext>
            </a:extLst>
          </p:cNvPr>
          <p:cNvSpPr>
            <a:spLocks noGrp="1"/>
          </p:cNvSpPr>
          <p:nvPr/>
        </p:nvSpPr>
        <p:spPr>
          <a:xfrm>
            <a:off x="619125" y="3990975"/>
            <a:ext cx="24765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Polazak, odredište</a:t>
            </a:r>
          </a:p>
          <a:p>
            <a:pPr>
              <a:defRPr sz="195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i vrijeme.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44CBB6-9CF5-4997-8CDA-A82DB48D25C3}"/>
              </a:ext>
            </a:extLst>
          </p:cNvPr>
          <p:cNvSpPr>
            <a:spLocks noGrp="1"/>
          </p:cNvSpPr>
          <p:nvPr/>
        </p:nvSpPr>
        <p:spPr>
          <a:xfrm>
            <a:off x="3346559" y="1819275"/>
            <a:ext cx="2286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5700" b="1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66F207-1E98-4ED2-8083-4356946FAA50}"/>
              </a:ext>
            </a:extLst>
          </p:cNvPr>
          <p:cNvSpPr>
            <a:spLocks noGrp="1"/>
          </p:cNvSpPr>
          <p:nvPr/>
        </p:nvSpPr>
        <p:spPr>
          <a:xfrm>
            <a:off x="3346559" y="3048000"/>
            <a:ext cx="25431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Nađeš saputnika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D9E3C1-D07C-4DA4-8A03-9E3B844C1B3A}"/>
              </a:ext>
            </a:extLst>
          </p:cNvPr>
          <p:cNvSpPr>
            <a:spLocks noGrp="1"/>
          </p:cNvSpPr>
          <p:nvPr/>
        </p:nvSpPr>
        <p:spPr>
          <a:xfrm>
            <a:off x="3346559" y="3990975"/>
            <a:ext cx="24765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Aplikacija predlaže</a:t>
            </a:r>
          </a:p>
          <a:p>
            <a:pPr>
              <a:defRPr sz="195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ljude slične rute.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74EED9-F5B0-411F-BDE0-9639E7D1EE37}"/>
              </a:ext>
            </a:extLst>
          </p:cNvPr>
          <p:cNvSpPr>
            <a:spLocks noGrp="1"/>
          </p:cNvSpPr>
          <p:nvPr/>
        </p:nvSpPr>
        <p:spPr>
          <a:xfrm>
            <a:off x="6429375" y="1819275"/>
            <a:ext cx="2286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29CD90-FA46-41EB-B943-5CD15BA9B66B}"/>
              </a:ext>
            </a:extLst>
          </p:cNvPr>
          <p:cNvSpPr>
            <a:spLocks noGrp="1"/>
          </p:cNvSpPr>
          <p:nvPr/>
        </p:nvSpPr>
        <p:spPr>
          <a:xfrm>
            <a:off x="6429375" y="3048000"/>
            <a:ext cx="25431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Potvrdite vožnju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7BDCBD-6830-4D75-AC92-F357078CA26D}"/>
              </a:ext>
            </a:extLst>
          </p:cNvPr>
          <p:cNvSpPr>
            <a:spLocks noGrp="1"/>
          </p:cNvSpPr>
          <p:nvPr/>
        </p:nvSpPr>
        <p:spPr>
          <a:xfrm>
            <a:off x="6429375" y="3990975"/>
            <a:ext cx="24765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Oboje prihvatite</a:t>
            </a:r>
          </a:p>
          <a:p>
            <a:pPr>
              <a:defRPr sz="195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mjesto i vrijeme.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0C46CA-B613-4FC8-9EB9-519F2D18C593}"/>
              </a:ext>
            </a:extLst>
          </p:cNvPr>
          <p:cNvSpPr>
            <a:spLocks noGrp="1"/>
          </p:cNvSpPr>
          <p:nvPr/>
        </p:nvSpPr>
        <p:spPr>
          <a:xfrm>
            <a:off x="9334500" y="1819275"/>
            <a:ext cx="2286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D7D5E3-8826-4B77-81CE-ABFABCBA46AE}"/>
              </a:ext>
            </a:extLst>
          </p:cNvPr>
          <p:cNvSpPr>
            <a:spLocks noGrp="1"/>
          </p:cNvSpPr>
          <p:nvPr/>
        </p:nvSpPr>
        <p:spPr>
          <a:xfrm>
            <a:off x="9334500" y="3048000"/>
            <a:ext cx="25431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Sretnete 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DAA819-90B1-4AC8-9A68-98D2B13AB0FF}"/>
              </a:ext>
            </a:extLst>
          </p:cNvPr>
          <p:cNvSpPr>
            <a:spLocks noGrp="1"/>
          </p:cNvSpPr>
          <p:nvPr/>
        </p:nvSpPr>
        <p:spPr>
          <a:xfrm>
            <a:off x="9334500" y="3990975"/>
            <a:ext cx="24765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Putnik je spreman.</a:t>
            </a:r>
          </a:p>
          <a:p>
            <a:pPr>
              <a:defRPr sz="195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Vozač nastavlja rutu.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03422E-AAF7-4EDA-B023-1CC10013C81D}"/>
              </a:ext>
            </a:extLst>
          </p:cNvPr>
          <p:cNvSpPr>
            <a:spLocks noGrp="1"/>
          </p:cNvSpPr>
          <p:nvPr/>
        </p:nvSpPr>
        <p:spPr>
          <a:xfrm>
            <a:off x="619125" y="57531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Povratak kući dogovarate kao zasebnu vožnju.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610" y="1722382"/>
            <a:ext cx="2554999" cy="322799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8" name="Rectangle 17"/>
          <p:cNvSpPr/>
          <p:nvPr/>
        </p:nvSpPr>
        <p:spPr>
          <a:xfrm>
            <a:off x="3168868" y="1729280"/>
            <a:ext cx="2720866" cy="322799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9" name="Rectangle 18"/>
          <p:cNvSpPr/>
          <p:nvPr/>
        </p:nvSpPr>
        <p:spPr>
          <a:xfrm>
            <a:off x="6061183" y="1729280"/>
            <a:ext cx="2799037" cy="322799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20" name="Rectangle 19"/>
          <p:cNvSpPr/>
          <p:nvPr/>
        </p:nvSpPr>
        <p:spPr>
          <a:xfrm>
            <a:off x="9173231" y="1729280"/>
            <a:ext cx="2741559" cy="322799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741029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74E72B4-0443-4990-B8CA-37336B8DFACE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Aplikacija sa malo koraka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04552A-5E3C-4C13-A514-3F9C5141B2FD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47925" y="1552575"/>
            <a:ext cx="7286625" cy="48577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85F7296-022D-4484-8B14-CAB12AF929D9}"/>
              </a:ext>
            </a:extLst>
          </p:cNvPr>
          <p:cNvSpPr>
            <a:spLocks noGrp="1"/>
          </p:cNvSpPr>
          <p:nvPr/>
        </p:nvSpPr>
        <p:spPr>
          <a:xfrm>
            <a:off x="619125" y="6410325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Ilustrativni izgled. Ekrani, osobe i ruta su izmišljeni.</a:t>
            </a:r>
          </a:p>
        </p:txBody>
      </p:sp>
    </p:spTree>
    <p:extLst>
      <p:ext uri="{BB962C8B-B14F-4D97-AF65-F5344CB8AC3E}">
        <p14:creationId xmlns:p14="http://schemas.microsoft.com/office/powerpoint/2010/main" val="1468777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2EAF88-8FC7-4421-8A5E-D1185514DC6D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7F6EF"/>
                </a:solidFill>
                <a:latin typeface="Arial"/>
                <a:ea typeface="Arial"/>
                <a:cs typeface="Arial"/>
              </a:rPr>
              <a:t>Vozač ne čeka i ne tipka tokom vožnje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627DE8-C0ED-4C82-B9B4-BFFB2D08F09D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CDE5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DE5D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85637A-7BD1-4F09-A80D-085DDC67AFFD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6EF"/>
                </a:solidFill>
                <a:latin typeface="Arial"/>
                <a:ea typeface="Arial"/>
                <a:cs typeface="Arial"/>
              </a:rPr>
              <a:t>Prije polaska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BB87D4-B950-46E7-8B75-C461C76B7911}"/>
              </a:ext>
            </a:extLst>
          </p:cNvPr>
          <p:cNvSpPr>
            <a:spLocks noGrp="1"/>
          </p:cNvSpPr>
          <p:nvPr/>
        </p:nvSpPr>
        <p:spPr>
          <a:xfrm>
            <a:off x="619125" y="2667000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6EF"/>
                </a:solidFill>
                <a:latin typeface="Arial"/>
                <a:ea typeface="Arial"/>
                <a:cs typeface="Arial"/>
              </a:rPr>
              <a:t>Putnik dolazi na mjesto susreta.</a:t>
            </a:r>
          </a:p>
          <a:p>
            <a:pPr>
              <a:defRPr sz="2025" b="0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6EF"/>
                </a:solidFill>
                <a:latin typeface="Arial"/>
                <a:ea typeface="Arial"/>
                <a:cs typeface="Arial"/>
              </a:rPr>
              <a:t>Aplikacija javlja da je spreman.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8E0A1C-1E3B-4CB3-8022-8897FDB3F91B}"/>
              </a:ext>
            </a:extLst>
          </p:cNvPr>
          <p:cNvSpPr>
            <a:spLocks noGrp="1"/>
          </p:cNvSpPr>
          <p:nvPr/>
        </p:nvSpPr>
        <p:spPr>
          <a:xfrm>
            <a:off x="6515100" y="1943100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6EF"/>
                </a:solidFill>
                <a:latin typeface="Arial"/>
                <a:ea typeface="Arial"/>
                <a:cs typeface="Arial"/>
              </a:rPr>
              <a:t>Tokom vožnje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B2FE27-484E-4616-B485-4AC6B9E262BD}"/>
              </a:ext>
            </a:extLst>
          </p:cNvPr>
          <p:cNvSpPr>
            <a:spLocks noGrp="1"/>
          </p:cNvSpPr>
          <p:nvPr/>
        </p:nvSpPr>
        <p:spPr>
          <a:xfrm>
            <a:off x="6515100" y="2667000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6EF"/>
                </a:solidFill>
                <a:latin typeface="Arial"/>
                <a:ea typeface="Arial"/>
                <a:cs typeface="Arial"/>
              </a:rPr>
              <a:t>Kratki statusi: „Krenuo sam”,</a:t>
            </a:r>
          </a:p>
          <a:p>
            <a:pPr>
              <a:defRPr sz="2025" b="0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6EF"/>
                </a:solidFill>
                <a:latin typeface="Arial"/>
                <a:ea typeface="Arial"/>
                <a:cs typeface="Arial"/>
              </a:rPr>
              <a:t>„Stižem”, „Na mjestu sam”.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37A411-CAAD-4762-B017-D45E759D1ECE}"/>
              </a:ext>
            </a:extLst>
          </p:cNvPr>
          <p:cNvSpPr>
            <a:spLocks noGrp="1"/>
          </p:cNvSpPr>
          <p:nvPr/>
        </p:nvSpPr>
        <p:spPr>
          <a:xfrm>
            <a:off x="619125" y="4848225"/>
            <a:ext cx="1076325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CDE5D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DE5D8"/>
                </a:solidFill>
                <a:latin typeface="Arial"/>
                <a:ea typeface="Arial"/>
                <a:cs typeface="Arial"/>
              </a:rPr>
              <a:t>Lokacija bi pomagala uz dozvolu korisnika.</a:t>
            </a:r>
          </a:p>
          <a:p>
            <a:pPr>
              <a:defRPr sz="2175" b="0">
                <a:solidFill>
                  <a:srgbClr val="CDE5D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DE5D8"/>
                </a:solidFill>
                <a:latin typeface="Arial"/>
                <a:ea typeface="Arial"/>
                <a:cs typeface="Arial"/>
              </a:rPr>
              <a:t>Automatsko prepoznavanje polaska tek treba ispitati.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789" y="1805480"/>
            <a:ext cx="4233042" cy="189974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0" name="Rectangle 9"/>
          <p:cNvSpPr/>
          <p:nvPr/>
        </p:nvSpPr>
        <p:spPr>
          <a:xfrm>
            <a:off x="6151179" y="1764752"/>
            <a:ext cx="4233042" cy="189974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443365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C2AD0B-F652-49D0-902B-7351DC380854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Povjerenje prije prve vožnje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0A2A45-CB6D-4003-8D4B-A75742441F11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86500" y="1575197"/>
            <a:ext cx="5286375" cy="39647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CC35F97-0F93-48B7-9FEF-A208981B61F9}"/>
              </a:ext>
            </a:extLst>
          </p:cNvPr>
          <p:cNvSpPr>
            <a:spLocks noGrp="1"/>
          </p:cNvSpPr>
          <p:nvPr/>
        </p:nvSpPr>
        <p:spPr>
          <a:xfrm>
            <a:off x="619125" y="1752600"/>
            <a:ext cx="54292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Prijedlog registracije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378C3B-6B79-4D63-B011-D40A4ADA826A}"/>
              </a:ext>
            </a:extLst>
          </p:cNvPr>
          <p:cNvSpPr>
            <a:spLocks noGrp="1"/>
          </p:cNvSpPr>
          <p:nvPr/>
        </p:nvSpPr>
        <p:spPr>
          <a:xfrm>
            <a:off x="619125" y="2552700"/>
            <a:ext cx="5429250" cy="1628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Potvrđen telefon, ime i fotografija.</a:t>
            </a:r>
          </a:p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Email za pristup i oporavak računa.</a:t>
            </a:r>
          </a:p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Podaci o vozilu za dogovoreni susret.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A73011-A80F-43C8-83DC-0565ECB58B94}"/>
              </a:ext>
            </a:extLst>
          </p:cNvPr>
          <p:cNvSpPr>
            <a:spLocks noGrp="1"/>
          </p:cNvSpPr>
          <p:nvPr/>
        </p:nvSpPr>
        <p:spPr>
          <a:xfrm>
            <a:off x="619125" y="4524375"/>
            <a:ext cx="5619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Poznanici, kolege i ponovne vožnje</a:t>
            </a:r>
          </a:p>
          <a:p>
            <a:pPr>
              <a:defRPr sz="21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mogu olakšati prvi korak.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46747B-C8C9-4C41-B1BB-38613642BA18}"/>
              </a:ext>
            </a:extLst>
          </p:cNvPr>
          <p:cNvSpPr>
            <a:spLocks noGrp="1"/>
          </p:cNvSpPr>
          <p:nvPr/>
        </p:nvSpPr>
        <p:spPr>
          <a:xfrm>
            <a:off x="619125" y="582930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Potvrđen kontakt nije garancija sigurnosti.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321" y="1686910"/>
            <a:ext cx="4749362" cy="2092873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647331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5381AC2-430E-49FB-8919-F26F0A15A4B7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Anketa pokazuje interes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5EC274-2A40-4914-A685-886D06118EE2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C10809-B7AD-4286-9E83-D34F369D1924}"/>
              </a:ext>
            </a:extLst>
          </p:cNvPr>
          <p:cNvSpPr>
            <a:spLocks noGrp="1"/>
          </p:cNvSpPr>
          <p:nvPr/>
        </p:nvSpPr>
        <p:spPr>
          <a:xfrm>
            <a:off x="619125" y="1781175"/>
            <a:ext cx="504825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22 od 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E12D0D-1640-4E80-B6C0-2F9ED0AB5E51}"/>
              </a:ext>
            </a:extLst>
          </p:cNvPr>
          <p:cNvSpPr>
            <a:spLocks noGrp="1"/>
          </p:cNvSpPr>
          <p:nvPr/>
        </p:nvSpPr>
        <p:spPr>
          <a:xfrm>
            <a:off x="657225" y="3067050"/>
            <a:ext cx="4810125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sigurno bi ili vjerovatno</a:t>
            </a:r>
          </a:p>
          <a:p>
            <a:pPr>
              <a:defRPr sz="247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probalo aplikaciju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B54985-AB75-4C9E-91E4-591DB725E6CA}"/>
              </a:ext>
            </a:extLst>
          </p:cNvPr>
          <p:cNvSpPr>
            <a:spLocks noGrp="1"/>
          </p:cNvSpPr>
          <p:nvPr/>
        </p:nvSpPr>
        <p:spPr>
          <a:xfrm>
            <a:off x="657225" y="4762500"/>
            <a:ext cx="49053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9 od 9 vozača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1D0B9C-93D5-4B20-86F5-D45832CFE2B8}"/>
              </a:ext>
            </a:extLst>
          </p:cNvPr>
          <p:cNvSpPr>
            <a:spLocks noGrp="1"/>
          </p:cNvSpPr>
          <p:nvPr/>
        </p:nvSpPr>
        <p:spPr>
          <a:xfrm>
            <a:off x="657225" y="5505450"/>
            <a:ext cx="50482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rado bi povezlo nekoga bez naplate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6419850" y="1828800"/>
          <a:ext cx="5143500" cy="3448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E0E9E48-E227-4839-A5A0-059CCBADC22B}"/>
              </a:ext>
            </a:extLst>
          </p:cNvPr>
          <p:cNvSpPr>
            <a:spLocks noGrp="1"/>
          </p:cNvSpPr>
          <p:nvPr/>
        </p:nvSpPr>
        <p:spPr>
          <a:xfrm>
            <a:off x="6400800" y="5610225"/>
            <a:ext cx="510540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27 odgovora ukupno. Mali uzorak poznanika.</a:t>
            </a:r>
          </a:p>
          <a:p>
            <a:pPr>
              <a:defRPr sz="1575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Interes još nije dokaz redovnog korištenja. 1.10.2026.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317" y="1718441"/>
            <a:ext cx="4233042" cy="246336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639881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94E1F5-830A-4D14-8EA9-CFFF0BBD1FF1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Poznanstvo i novac ostaju važna pitanja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4C1712-D35E-480A-A2F3-5D2ACFCD2813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57C080-39E7-4821-88E2-212BB56B8BB6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5143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6 od 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745CAB-EC01-4A74-9526-7B6514DB4DD8}"/>
              </a:ext>
            </a:extLst>
          </p:cNvPr>
          <p:cNvSpPr>
            <a:spLocks noGrp="1"/>
          </p:cNvSpPr>
          <p:nvPr/>
        </p:nvSpPr>
        <p:spPr>
          <a:xfrm>
            <a:off x="619125" y="3095625"/>
            <a:ext cx="49530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vozača bira poznanstvo</a:t>
            </a:r>
          </a:p>
          <a:p>
            <a:pPr>
              <a:defRPr sz="240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ili zajedničke poznanike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6ABB86-389E-41AA-A651-51C0C4F5D4EC}"/>
              </a:ext>
            </a:extLst>
          </p:cNvPr>
          <p:cNvSpPr>
            <a:spLocks noGrp="1"/>
          </p:cNvSpPr>
          <p:nvPr/>
        </p:nvSpPr>
        <p:spPr>
          <a:xfrm>
            <a:off x="619125" y="4686300"/>
            <a:ext cx="4953000" cy="933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Povjerenje treba graditi</a:t>
            </a:r>
          </a:p>
          <a:p>
            <a:pPr>
              <a:defRPr sz="210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od prvog susreta.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D5A3E7-4DC4-4A34-9C4C-237E3CE76702}"/>
              </a:ext>
            </a:extLst>
          </p:cNvPr>
          <p:cNvSpPr>
            <a:spLocks noGrp="1"/>
          </p:cNvSpPr>
          <p:nvPr/>
        </p:nvSpPr>
        <p:spPr>
          <a:xfrm>
            <a:off x="6543675" y="1809750"/>
            <a:ext cx="4857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7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3 od 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A27A26-5CEF-429D-A4ED-32A684299572}"/>
              </a:ext>
            </a:extLst>
          </p:cNvPr>
          <p:cNvSpPr>
            <a:spLocks noGrp="1"/>
          </p:cNvSpPr>
          <p:nvPr/>
        </p:nvSpPr>
        <p:spPr>
          <a:xfrm>
            <a:off x="6543675" y="3095625"/>
            <a:ext cx="485775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vozača očekuje novac</a:t>
            </a:r>
          </a:p>
          <a:p>
            <a:pPr>
              <a:defRPr sz="240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ili podjelu troškova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47D794-9E99-4654-A4C5-D5592E575F54}"/>
              </a:ext>
            </a:extLst>
          </p:cNvPr>
          <p:cNvSpPr>
            <a:spLocks noGrp="1"/>
          </p:cNvSpPr>
          <p:nvPr/>
        </p:nvSpPr>
        <p:spPr>
          <a:xfrm>
            <a:off x="6543675" y="4686300"/>
            <a:ext cx="4953000" cy="933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Treba saznati da li im je</a:t>
            </a:r>
          </a:p>
          <a:p>
            <a:pPr>
              <a:defRPr sz="210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doprinos želja ili uslov.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A34616-4488-47AD-BFA8-0DE050A89675}"/>
              </a:ext>
            </a:extLst>
          </p:cNvPr>
          <p:cNvSpPr>
            <a:spLocks noGrp="1"/>
          </p:cNvSpPr>
          <p:nvPr/>
        </p:nvSpPr>
        <p:spPr>
          <a:xfrm>
            <a:off x="619125" y="6115050"/>
            <a:ext cx="10858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Anketa, 1.10.2026. Pitanje o novcu spaja dva različita očekivanja.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317" y="1694792"/>
            <a:ext cx="4233042" cy="2408183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2" name="Rectangle 11"/>
          <p:cNvSpPr/>
          <p:nvPr/>
        </p:nvSpPr>
        <p:spPr>
          <a:xfrm>
            <a:off x="6178768" y="1643884"/>
            <a:ext cx="4233042" cy="2408183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3" name="Rectangle 12"/>
          <p:cNvSpPr/>
          <p:nvPr/>
        </p:nvSpPr>
        <p:spPr>
          <a:xfrm>
            <a:off x="6481715" y="4547367"/>
            <a:ext cx="3202254" cy="103264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4" name="Rectangle 13"/>
          <p:cNvSpPr/>
          <p:nvPr/>
        </p:nvSpPr>
        <p:spPr>
          <a:xfrm>
            <a:off x="494221" y="4547366"/>
            <a:ext cx="3202254" cy="103264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5" name="Down Arrow 14"/>
          <p:cNvSpPr/>
          <p:nvPr/>
        </p:nvSpPr>
        <p:spPr>
          <a:xfrm>
            <a:off x="1827334" y="4049110"/>
            <a:ext cx="536028" cy="603031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6" name="Down Arrow 15"/>
          <p:cNvSpPr/>
          <p:nvPr/>
        </p:nvSpPr>
        <p:spPr>
          <a:xfrm>
            <a:off x="7915451" y="4012325"/>
            <a:ext cx="536028" cy="603031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394305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75990E0-5DA6-4BBB-BA1C-E1F300A3E391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Besplatna vožnja i mogući doprinos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C03C67-DDA4-47F0-8D20-C276635A528A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0EC1FF-1F58-44D3-92EC-616CAACBF1DF}"/>
              </a:ext>
            </a:extLst>
          </p:cNvPr>
          <p:cNvSpPr>
            <a:spLocks noGrp="1"/>
          </p:cNvSpPr>
          <p:nvPr/>
        </p:nvSpPr>
        <p:spPr>
          <a:xfrm>
            <a:off x="619125" y="1885950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Osnova USPUT-a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830CED-1528-4E35-A5EE-1CB8FD63FF39}"/>
              </a:ext>
            </a:extLst>
          </p:cNvPr>
          <p:cNvSpPr>
            <a:spLocks noGrp="1"/>
          </p:cNvSpPr>
          <p:nvPr/>
        </p:nvSpPr>
        <p:spPr>
          <a:xfrm>
            <a:off x="619125" y="2609850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Dobrovoljna vožnja bez naplate.</a:t>
            </a:r>
          </a:p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Vozač može dobiti zahvalnicu</a:t>
            </a:r>
          </a:p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ili simbolične bodove.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9C273D-805F-4EA7-A017-D1F76CBF0C6A}"/>
              </a:ext>
            </a:extLst>
          </p:cNvPr>
          <p:cNvSpPr>
            <a:spLocks noGrp="1"/>
          </p:cNvSpPr>
          <p:nvPr/>
        </p:nvSpPr>
        <p:spPr>
          <a:xfrm>
            <a:off x="6505575" y="1885950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Opcija za razradu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B7629C-B719-45B3-B3E4-E1F2D7D4F503}"/>
              </a:ext>
            </a:extLst>
          </p:cNvPr>
          <p:cNvSpPr>
            <a:spLocks noGrp="1"/>
          </p:cNvSpPr>
          <p:nvPr/>
        </p:nvSpPr>
        <p:spPr>
          <a:xfrm>
            <a:off x="6505575" y="2609850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Neki vozači žele podjelu troškova.</a:t>
            </a:r>
          </a:p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Svako očekivanje mora biti jasno</a:t>
            </a:r>
          </a:p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prije prihvatanja vožnje.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4227B-4199-49F4-BCB5-5B48936B6606}"/>
              </a:ext>
            </a:extLst>
          </p:cNvPr>
          <p:cNvSpPr>
            <a:spLocks noGrp="1"/>
          </p:cNvSpPr>
          <p:nvPr/>
        </p:nvSpPr>
        <p:spPr>
          <a:xfrm>
            <a:off x="619125" y="5095875"/>
            <a:ext cx="106680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Ako je doprinos obavezan, ta vožnja nije besplatna.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258" y="1765737"/>
            <a:ext cx="4233042" cy="189974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0" name="Rectangle 9"/>
          <p:cNvSpPr/>
          <p:nvPr/>
        </p:nvSpPr>
        <p:spPr>
          <a:xfrm>
            <a:off x="6367954" y="1799896"/>
            <a:ext cx="4233042" cy="189974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382173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4EAC277-9D20-4BAA-9DB8-19CEA787D67F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Kako bi se aplikacija održavala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18E503-53D5-4809-B6DD-DBB04A069375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71C83-70C6-4722-9B94-86E7BB4F69C4}"/>
              </a:ext>
            </a:extLst>
          </p:cNvPr>
          <p:cNvSpPr>
            <a:spLocks noGrp="1"/>
          </p:cNvSpPr>
          <p:nvPr/>
        </p:nvSpPr>
        <p:spPr>
          <a:xfrm>
            <a:off x="619125" y="1838325"/>
            <a:ext cx="1076325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525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Vožnja može biti besplatna.</a:t>
            </a:r>
          </a:p>
          <a:p>
            <a:pPr>
              <a:defRPr sz="3525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Razvoj i podrška imaju trošak.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DFFF69-5461-4B26-914E-054C0BE0639C}"/>
              </a:ext>
            </a:extLst>
          </p:cNvPr>
          <p:cNvSpPr>
            <a:spLocks noGrp="1"/>
          </p:cNvSpPr>
          <p:nvPr/>
        </p:nvSpPr>
        <p:spPr>
          <a:xfrm>
            <a:off x="619125" y="3771900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Mogući izvori prihoda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3F7339-3F5D-4B17-B3FE-0CBEA38CD5F6}"/>
              </a:ext>
            </a:extLst>
          </p:cNvPr>
          <p:cNvSpPr>
            <a:spLocks noGrp="1"/>
          </p:cNvSpPr>
          <p:nvPr/>
        </p:nvSpPr>
        <p:spPr>
          <a:xfrm>
            <a:off x="619125" y="4495800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Podrška firmi za prevoz zaposlenih.</a:t>
            </a:r>
          </a:p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Sponzori i lokalni partneri.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4AE8D3-58B4-4274-9BEA-C3909CA94B79}"/>
              </a:ext>
            </a:extLst>
          </p:cNvPr>
          <p:cNvSpPr>
            <a:spLocks noGrp="1"/>
          </p:cNvSpPr>
          <p:nvPr/>
        </p:nvSpPr>
        <p:spPr>
          <a:xfrm>
            <a:off x="6505575" y="3771900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Kasnije mogućnosti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40720B-36F3-435B-8B21-F5067577D802}"/>
              </a:ext>
            </a:extLst>
          </p:cNvPr>
          <p:cNvSpPr>
            <a:spLocks noGrp="1"/>
          </p:cNvSpPr>
          <p:nvPr/>
        </p:nvSpPr>
        <p:spPr>
          <a:xfrm>
            <a:off x="6505575" y="4495800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Dodatne opcije uz pretplatu.</a:t>
            </a:r>
          </a:p>
          <a:p>
            <a:pPr>
              <a:defRPr sz="2025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Model još trebamo provjeriti.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3909" y="3645775"/>
            <a:ext cx="4658711" cy="189974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0" name="Rectangle 9"/>
          <p:cNvSpPr/>
          <p:nvPr/>
        </p:nvSpPr>
        <p:spPr>
          <a:xfrm>
            <a:off x="5906812" y="3609975"/>
            <a:ext cx="4658711" cy="189974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303230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4B4B9B-C2A3-410B-A558-D49D6634029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Prva proba u Sarajevu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059DF1-4A81-4845-9479-33F69D2F6FFD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166839-E788-453C-B403-6F0D63E14FC6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5048250" cy="1019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40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5400" b="1" dirty="0" smtClean="0">
                <a:solidFill>
                  <a:srgbClr val="174B3B"/>
                </a:solidFill>
                <a:latin typeface="Arial"/>
                <a:ea typeface="Arial"/>
                <a:cs typeface="Arial"/>
              </a:rPr>
              <a:t>5</a:t>
            </a:r>
            <a:r>
              <a:rPr lang="en-US" sz="5400" b="1" dirty="0" smtClean="0">
                <a:solidFill>
                  <a:srgbClr val="174B3B"/>
                </a:solidFill>
                <a:latin typeface="Arial"/>
                <a:ea typeface="Arial"/>
                <a:cs typeface="Arial"/>
              </a:rPr>
              <a:t>-</a:t>
            </a:r>
            <a:r>
              <a:rPr sz="5400" b="1" dirty="0" smtClean="0">
                <a:solidFill>
                  <a:srgbClr val="174B3B"/>
                </a:solidFill>
                <a:latin typeface="Arial"/>
                <a:ea typeface="Arial"/>
                <a:cs typeface="Arial"/>
              </a:rPr>
              <a:t>10 </a:t>
            </a:r>
            <a:r>
              <a:rPr sz="5400" b="1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ljudi</a:t>
            </a:r>
            <a:endParaRPr sz="5400" b="1" dirty="0">
              <a:solidFill>
                <a:srgbClr val="174B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C06603-4128-46E4-AEDE-ABFF9AF312CB}"/>
              </a:ext>
            </a:extLst>
          </p:cNvPr>
          <p:cNvSpPr>
            <a:spLocks noGrp="1"/>
          </p:cNvSpPr>
          <p:nvPr/>
        </p:nvSpPr>
        <p:spPr>
          <a:xfrm>
            <a:off x="619125" y="3143250"/>
            <a:ext cx="50482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Slična ruta i slično vrijeme.</a:t>
            </a:r>
          </a:p>
          <a:p>
            <a:pPr>
              <a:defRPr sz="225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Prve učesnike tek trebamo pronaći.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C464EF-8D9A-4A94-B24D-52EFE3A62291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51244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2 radne sedmice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D0BD12-B0C9-4D31-9A43-56AE50AFBD4A}"/>
              </a:ext>
            </a:extLst>
          </p:cNvPr>
          <p:cNvSpPr>
            <a:spLocks noGrp="1"/>
          </p:cNvSpPr>
          <p:nvPr/>
        </p:nvSpPr>
        <p:spPr>
          <a:xfrm>
            <a:off x="6505575" y="3143250"/>
            <a:ext cx="50482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Jedan vozač i jedan putnik.</a:t>
            </a:r>
          </a:p>
          <a:p>
            <a:pPr>
              <a:defRPr sz="2250" b="0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4B3B"/>
                </a:solidFill>
                <a:latin typeface="Arial"/>
                <a:ea typeface="Arial"/>
                <a:cs typeface="Arial"/>
              </a:rPr>
              <a:t>Jednostavna verzija aplikacije.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0C9528-2F5F-4AEA-9F6F-2266C322EF04}"/>
              </a:ext>
            </a:extLst>
          </p:cNvPr>
          <p:cNvSpPr>
            <a:spLocks noGrp="1"/>
          </p:cNvSpPr>
          <p:nvPr/>
        </p:nvSpPr>
        <p:spPr>
          <a:xfrm>
            <a:off x="619125" y="5057775"/>
            <a:ext cx="1085850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Pratimo dogovore, održane vožnje, otkazivanja</a:t>
            </a:r>
          </a:p>
          <a:p>
            <a:pPr>
              <a:defRPr sz="2475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i koliko ljudi ponovi vožnju.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317" y="1584434"/>
            <a:ext cx="5218058" cy="2494894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0" name="Rectangle 9"/>
          <p:cNvSpPr/>
          <p:nvPr/>
        </p:nvSpPr>
        <p:spPr>
          <a:xfrm>
            <a:off x="6096000" y="1584434"/>
            <a:ext cx="5218058" cy="2494894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204602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94C49AD-30B9-48A6-8FD4-5D0F10111FE3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7F6EF"/>
                </a:solidFill>
                <a:latin typeface="Arial"/>
                <a:ea typeface="Arial"/>
                <a:cs typeface="Arial"/>
              </a:rPr>
              <a:t>Šta nas najviše brine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2249C7-B9FD-499A-8B0A-9CE99F0A341D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CDE5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DE5D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FE5DA1-7A62-4EF8-83D6-0D85291F79E3}"/>
              </a:ext>
            </a:extLst>
          </p:cNvPr>
          <p:cNvSpPr>
            <a:spLocks noGrp="1"/>
          </p:cNvSpPr>
          <p:nvPr/>
        </p:nvSpPr>
        <p:spPr>
          <a:xfrm>
            <a:off x="619125" y="1790700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6EF"/>
                </a:solidFill>
                <a:latin typeface="Arial"/>
                <a:ea typeface="Arial"/>
                <a:cs typeface="Arial"/>
              </a:rPr>
              <a:t>Hoće li se ljudi poklopiti?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C564D3-3168-451D-8492-1C8CA8BBA929}"/>
              </a:ext>
            </a:extLst>
          </p:cNvPr>
          <p:cNvSpPr>
            <a:spLocks noGrp="1"/>
          </p:cNvSpPr>
          <p:nvPr/>
        </p:nvSpPr>
        <p:spPr>
          <a:xfrm>
            <a:off x="619125" y="2514600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6EF"/>
                </a:solidFill>
                <a:latin typeface="Arial"/>
                <a:ea typeface="Arial"/>
                <a:cs typeface="Arial"/>
              </a:rPr>
              <a:t>Mora odgovarati i ruta i vrijeme.</a:t>
            </a:r>
          </a:p>
          <a:p>
            <a:pPr>
              <a:defRPr sz="2025" b="0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6EF"/>
                </a:solidFill>
                <a:latin typeface="Arial"/>
                <a:ea typeface="Arial"/>
                <a:cs typeface="Arial"/>
              </a:rPr>
              <a:t>Bez dovoljno ljudi nema izbora.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85C1AD-664E-45FF-BD91-C75DEAC381CE}"/>
              </a:ext>
            </a:extLst>
          </p:cNvPr>
          <p:cNvSpPr>
            <a:spLocks noGrp="1"/>
          </p:cNvSpPr>
          <p:nvPr/>
        </p:nvSpPr>
        <p:spPr>
          <a:xfrm>
            <a:off x="6505575" y="1790700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6EF"/>
                </a:solidFill>
                <a:latin typeface="Arial"/>
                <a:ea typeface="Arial"/>
                <a:cs typeface="Arial"/>
              </a:rPr>
              <a:t>Hoće li se osjećati sigurno?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D7A3D5-BF38-4F80-9759-1118EA99AF91}"/>
              </a:ext>
            </a:extLst>
          </p:cNvPr>
          <p:cNvSpPr>
            <a:spLocks noGrp="1"/>
          </p:cNvSpPr>
          <p:nvPr/>
        </p:nvSpPr>
        <p:spPr>
          <a:xfrm>
            <a:off x="6505575" y="2514600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6EF"/>
                </a:solidFill>
                <a:latin typeface="Arial"/>
                <a:ea typeface="Arial"/>
                <a:cs typeface="Arial"/>
              </a:rPr>
              <a:t>Profil pomaže, ali ne uklanja rizik.</a:t>
            </a:r>
          </a:p>
          <a:p>
            <a:pPr>
              <a:defRPr sz="2025" b="0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6EF"/>
                </a:solidFill>
                <a:latin typeface="Arial"/>
                <a:ea typeface="Arial"/>
                <a:cs typeface="Arial"/>
              </a:rPr>
              <a:t>Treba rješavati prijave i probleme.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85FA7D-6053-4C4D-8331-5DA88CBE5717}"/>
              </a:ext>
            </a:extLst>
          </p:cNvPr>
          <p:cNvSpPr>
            <a:spLocks noGrp="1"/>
          </p:cNvSpPr>
          <p:nvPr/>
        </p:nvSpPr>
        <p:spPr>
          <a:xfrm>
            <a:off x="619125" y="4019550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6EF"/>
                </a:solidFill>
                <a:latin typeface="Arial"/>
                <a:ea typeface="Arial"/>
                <a:cs typeface="Arial"/>
              </a:rPr>
              <a:t>Šta kad neko otkaže?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4C72CE-3B83-49D6-BC3D-205AE814A1E5}"/>
              </a:ext>
            </a:extLst>
          </p:cNvPr>
          <p:cNvSpPr>
            <a:spLocks noGrp="1"/>
          </p:cNvSpPr>
          <p:nvPr/>
        </p:nvSpPr>
        <p:spPr>
          <a:xfrm>
            <a:off x="619125" y="4743450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6EF"/>
                </a:solidFill>
                <a:latin typeface="Arial"/>
                <a:ea typeface="Arial"/>
                <a:cs typeface="Arial"/>
              </a:rPr>
              <a:t>Putnik treba rezervnu mogućnost.</a:t>
            </a:r>
          </a:p>
          <a:p>
            <a:pPr>
              <a:defRPr sz="2025" b="0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6EF"/>
                </a:solidFill>
                <a:latin typeface="Arial"/>
                <a:ea typeface="Arial"/>
                <a:cs typeface="Arial"/>
              </a:rPr>
              <a:t>Vozač ne smije ostati čekati.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8BC617-8859-47D1-8AD0-562F89EB3135}"/>
              </a:ext>
            </a:extLst>
          </p:cNvPr>
          <p:cNvSpPr>
            <a:spLocks noGrp="1"/>
          </p:cNvSpPr>
          <p:nvPr/>
        </p:nvSpPr>
        <p:spPr>
          <a:xfrm>
            <a:off x="6505575" y="4019550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6EF"/>
                </a:solidFill>
                <a:latin typeface="Arial"/>
                <a:ea typeface="Arial"/>
                <a:cs typeface="Arial"/>
              </a:rPr>
              <a:t>Možemo li ovo održavati?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1E1529-9B50-4854-B7C3-FCC487B36EC0}"/>
              </a:ext>
            </a:extLst>
          </p:cNvPr>
          <p:cNvSpPr>
            <a:spLocks noGrp="1"/>
          </p:cNvSpPr>
          <p:nvPr/>
        </p:nvSpPr>
        <p:spPr>
          <a:xfrm>
            <a:off x="6505575" y="4743450"/>
            <a:ext cx="4762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6EF"/>
                </a:solidFill>
                <a:latin typeface="Arial"/>
                <a:ea typeface="Arial"/>
                <a:cs typeface="Arial"/>
              </a:rPr>
              <a:t>Lokacija, podrška i razvoj koštaju.</a:t>
            </a:r>
          </a:p>
          <a:p>
            <a:pPr>
              <a:defRPr sz="2025" b="0">
                <a:solidFill>
                  <a:srgbClr val="F7F6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7F6EF"/>
                </a:solidFill>
                <a:latin typeface="Arial"/>
                <a:ea typeface="Arial"/>
                <a:cs typeface="Arial"/>
              </a:rPr>
              <a:t>Treba razjasniti odgovornost i troškove.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317" y="1584434"/>
            <a:ext cx="4233042" cy="189974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3" name="Rectangle 12"/>
          <p:cNvSpPr/>
          <p:nvPr/>
        </p:nvSpPr>
        <p:spPr>
          <a:xfrm>
            <a:off x="6300951" y="1551590"/>
            <a:ext cx="4616670" cy="189974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4" name="Rectangle 13"/>
          <p:cNvSpPr/>
          <p:nvPr/>
        </p:nvSpPr>
        <p:spPr>
          <a:xfrm>
            <a:off x="6300950" y="3858652"/>
            <a:ext cx="5050221" cy="189974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  <p:sp>
        <p:nvSpPr>
          <p:cNvPr id="15" name="Rectangle 14"/>
          <p:cNvSpPr/>
          <p:nvPr/>
        </p:nvSpPr>
        <p:spPr>
          <a:xfrm>
            <a:off x="449317" y="3775513"/>
            <a:ext cx="4390697" cy="189974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s-Latn-BA"/>
          </a:p>
        </p:txBody>
      </p:sp>
    </p:spTree>
    <p:extLst>
      <p:ext uri="{BB962C8B-B14F-4D97-AF65-F5344CB8AC3E}">
        <p14:creationId xmlns:p14="http://schemas.microsoft.com/office/powerpoint/2010/main" val="1251293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817AE7-49FC-4BBF-B7A5-DC40CDAB6836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4B3B"/>
                </a:solidFill>
                <a:latin typeface="Arial"/>
                <a:ea typeface="Arial"/>
                <a:cs typeface="Arial"/>
              </a:rPr>
              <a:t>Šta vi mislite?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389A89-1B8F-48CE-8665-2E2F44E42DC0}"/>
              </a:ext>
            </a:extLst>
          </p:cNvPr>
          <p:cNvSpPr>
            <a:spLocks noGrp="1"/>
          </p:cNvSpPr>
          <p:nvPr/>
        </p:nvSpPr>
        <p:spPr>
          <a:xfrm>
            <a:off x="11096625" y="634365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A85B4E-FEFC-4DCF-AFB2-C88624F921E8}"/>
              </a:ext>
            </a:extLst>
          </p:cNvPr>
          <p:cNvSpPr>
            <a:spLocks noGrp="1"/>
          </p:cNvSpPr>
          <p:nvPr/>
        </p:nvSpPr>
        <p:spPr>
          <a:xfrm>
            <a:off x="619125" y="1914525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lang="en-US" sz="3225" b="1" dirty="0" smtClean="0">
                <a:solidFill>
                  <a:srgbClr val="174B3B"/>
                </a:solidFill>
                <a:latin typeface="Arial"/>
                <a:ea typeface="Arial"/>
                <a:cs typeface="Arial"/>
              </a:rPr>
              <a:t>- </a:t>
            </a:r>
            <a:r>
              <a:rPr sz="3225" b="1" dirty="0" err="1" smtClean="0">
                <a:solidFill>
                  <a:srgbClr val="174B3B"/>
                </a:solidFill>
                <a:latin typeface="Arial"/>
                <a:ea typeface="Arial"/>
                <a:cs typeface="Arial"/>
              </a:rPr>
              <a:t>Šta</a:t>
            </a:r>
            <a:r>
              <a:rPr sz="3225" b="1" dirty="0" smtClean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bi vas </a:t>
            </a:r>
            <a:r>
              <a:rPr sz="3225" b="1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navelo</a:t>
            </a:r>
            <a:r>
              <a:rPr sz="3225" b="1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da probate USPUT?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FBDAF2-0E09-4C93-AB91-4A6911A9E8A7}"/>
              </a:ext>
            </a:extLst>
          </p:cNvPr>
          <p:cNvSpPr>
            <a:spLocks noGrp="1"/>
          </p:cNvSpPr>
          <p:nvPr/>
        </p:nvSpPr>
        <p:spPr>
          <a:xfrm>
            <a:off x="619125" y="321945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lang="en-US" sz="3225" b="1" dirty="0" smtClean="0">
                <a:solidFill>
                  <a:srgbClr val="174B3B"/>
                </a:solidFill>
                <a:latin typeface="Arial"/>
                <a:ea typeface="Arial"/>
                <a:cs typeface="Arial"/>
              </a:rPr>
              <a:t>- </a:t>
            </a:r>
            <a:r>
              <a:rPr sz="3225" b="1" dirty="0" err="1" smtClean="0">
                <a:solidFill>
                  <a:srgbClr val="174B3B"/>
                </a:solidFill>
                <a:latin typeface="Arial"/>
                <a:ea typeface="Arial"/>
                <a:cs typeface="Arial"/>
              </a:rPr>
              <a:t>Zbog</a:t>
            </a:r>
            <a:r>
              <a:rPr sz="3225" b="1" dirty="0" smtClean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čega</a:t>
            </a:r>
            <a:r>
              <a:rPr sz="3225" b="1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biste</a:t>
            </a:r>
            <a:r>
              <a:rPr sz="3225" b="1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odustali</a:t>
            </a:r>
            <a:r>
              <a:rPr sz="3225" b="1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5DE531-7107-47AC-9A3E-0E44359B0FB3}"/>
              </a:ext>
            </a:extLst>
          </p:cNvPr>
          <p:cNvSpPr>
            <a:spLocks noGrp="1"/>
          </p:cNvSpPr>
          <p:nvPr/>
        </p:nvSpPr>
        <p:spPr>
          <a:xfrm>
            <a:off x="619125" y="4524375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74B3B"/>
                </a:solidFill>
                <a:latin typeface="Arial"/>
                <a:ea typeface="Arial"/>
                <a:cs typeface="Arial"/>
              </a:defRPr>
            </a:pPr>
            <a:r>
              <a:rPr lang="en-US" sz="3225" b="1" dirty="0" smtClean="0">
                <a:solidFill>
                  <a:srgbClr val="174B3B"/>
                </a:solidFill>
                <a:latin typeface="Arial"/>
                <a:ea typeface="Arial"/>
                <a:cs typeface="Arial"/>
              </a:rPr>
              <a:t>- </a:t>
            </a:r>
            <a:r>
              <a:rPr sz="3225" b="1" dirty="0" smtClean="0">
                <a:solidFill>
                  <a:srgbClr val="174B3B"/>
                </a:solidFill>
                <a:latin typeface="Arial"/>
                <a:ea typeface="Arial"/>
                <a:cs typeface="Arial"/>
              </a:rPr>
              <a:t>Koga </a:t>
            </a:r>
            <a:r>
              <a:rPr sz="3225" b="1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poznajete</a:t>
            </a:r>
            <a:r>
              <a:rPr sz="3225" b="1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za </a:t>
            </a:r>
            <a:r>
              <a:rPr sz="3225" b="1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prvu</a:t>
            </a:r>
            <a:r>
              <a:rPr sz="3225" b="1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malu</a:t>
            </a:r>
            <a:r>
              <a:rPr sz="3225" b="1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 </a:t>
            </a:r>
            <a:r>
              <a:rPr sz="3225" b="1" dirty="0" err="1">
                <a:solidFill>
                  <a:srgbClr val="174B3B"/>
                </a:solidFill>
                <a:latin typeface="Arial"/>
                <a:ea typeface="Arial"/>
                <a:cs typeface="Arial"/>
              </a:rPr>
              <a:t>probu</a:t>
            </a:r>
            <a:r>
              <a:rPr sz="3225" b="1" dirty="0">
                <a:solidFill>
                  <a:srgbClr val="174B3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AC6D63-3D11-4BBF-B84B-48B2B5674F65}"/>
              </a:ext>
            </a:extLst>
          </p:cNvPr>
          <p:cNvSpPr>
            <a:spLocks noGrp="1"/>
          </p:cNvSpPr>
          <p:nvPr/>
        </p:nvSpPr>
        <p:spPr>
          <a:xfrm>
            <a:off x="619125" y="5953125"/>
            <a:ext cx="10858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2655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5D"/>
                </a:solidFill>
                <a:latin typeface="Arial"/>
                <a:ea typeface="Arial"/>
                <a:cs typeface="Arial"/>
              </a:rPr>
              <a:t>Prvi cilj: da nakon vožnje neko poželi ponovo putovati zajedno.</a:t>
            </a:r>
          </a:p>
        </p:txBody>
      </p:sp>
    </p:spTree>
    <p:extLst>
      <p:ext uri="{BB962C8B-B14F-4D97-AF65-F5344CB8AC3E}">
        <p14:creationId xmlns:p14="http://schemas.microsoft.com/office/powerpoint/2010/main" val="15362048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1182</Words>
  <Application>Microsoft Office PowerPoint</Application>
  <DocSecurity>0</DocSecurity>
  <PresentationFormat>Widescreen</PresentationFormat>
  <Paragraphs>150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Arial Black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Salem Kapic Kantardzic</cp:lastModifiedBy>
  <cp:revision>2</cp:revision>
  <dcterms:created xsi:type="dcterms:W3CDTF">2026-10-01T07:19:12Z</dcterms:created>
  <dcterms:modified xsi:type="dcterms:W3CDTF">2026-10-01T07:29:42Z</dcterms:modified>
</cp:coreProperties>
</file>